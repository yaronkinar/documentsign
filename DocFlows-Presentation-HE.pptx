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600" b="1" lang="he-IL">
                <a:solidFill>
                  <a:srgbClr val="FFFFFF"/>
                </a:solidFill>
                <a:latin typeface="Arial"/>
              </a:rPr>
              <a:t>DocFlows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0" lang="he-IL">
                <a:solidFill>
                  <a:srgbClr val="CFDFFF"/>
                </a:solidFill>
                <a:latin typeface="Arial"/>
              </a:rPr>
              <a:t>פלטפורמת חתימה דיגיטלית וניהול חוזים חכמה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lang="he-IL">
                <a:solidFill>
                  <a:srgbClr val="9CB6E8"/>
                </a:solidFill>
                <a:latin typeface="Arial"/>
              </a:rPr>
              <a:t>מבוססת AI • תומכת בעברית ובטפסים ממשלתיים ועירוניים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סדר היום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מה נסקור במצגת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800" lang="he-IL">
                <a:solidFill>
                  <a:srgbClr val="4A4A4A"/>
                </a:solidFill>
                <a:latin typeface="Arial"/>
              </a:rPr>
              <a:t>•  האתגר העסקי – מה היה לפני DocFlows</a:t>
            </a:r>
          </a:p>
          <a:p>
            <a:pPr algn="r" rtl="1">
              <a:spcAft>
                <a:spcPts val="1400"/>
              </a:spcAft>
            </a:pPr>
            <a:r>
              <a:rPr sz="1800" lang="he-IL">
                <a:solidFill>
                  <a:srgbClr val="4A4A4A"/>
                </a:solidFill>
                <a:latin typeface="Arial"/>
              </a:rPr>
              <a:t>•  סקירת המוצר – זרימת העבודה המרכזית</a:t>
            </a:r>
          </a:p>
          <a:p>
            <a:pPr algn="r" rtl="1">
              <a:spcAft>
                <a:spcPts val="1400"/>
              </a:spcAft>
            </a:pPr>
            <a:r>
              <a:rPr sz="1800" lang="he-IL">
                <a:solidFill>
                  <a:srgbClr val="4A4A4A"/>
                </a:solidFill>
                <a:latin typeface="Arial"/>
              </a:rPr>
              <a:t>•  חתימה דיגיטלית וניהול תהליכי אישור</a:t>
            </a:r>
          </a:p>
          <a:p>
            <a:pPr algn="r" rtl="1">
              <a:spcAft>
                <a:spcPts val="1400"/>
              </a:spcAft>
            </a:pPr>
            <a:r>
              <a:rPr sz="1800" lang="he-IL">
                <a:solidFill>
                  <a:srgbClr val="4A4A4A"/>
                </a:solidFill>
                <a:latin typeface="Arial"/>
              </a:rPr>
              <a:t>•  אוטומציה מבוססת AI – הזמן שהיא חוסכת</a:t>
            </a:r>
          </a:p>
          <a:p>
            <a:pPr algn="r" rtl="1">
              <a:spcAft>
                <a:spcPts val="1400"/>
              </a:spcAft>
            </a:pPr>
            <a:r>
              <a:rPr sz="1800" lang="he-IL">
                <a:solidFill>
                  <a:srgbClr val="4A4A4A"/>
                </a:solidFill>
                <a:latin typeface="Arial"/>
              </a:rPr>
              <a:t>•  תמיכה בטפסי הקנסות / טפסים עירוניים בעברית</a:t>
            </a:r>
          </a:p>
          <a:p>
            <a:pPr algn="r" rtl="1">
              <a:spcAft>
                <a:spcPts val="1400"/>
              </a:spcAft>
            </a:pPr>
            <a:r>
              <a:rPr sz="1800" lang="he-IL">
                <a:solidFill>
                  <a:srgbClr val="4A4A4A"/>
                </a:solidFill>
                <a:latin typeface="Arial"/>
              </a:rPr>
              <a:t>•  תבניות, שיתוף פעולה ותקשורת</a:t>
            </a:r>
          </a:p>
          <a:p>
            <a:pPr algn="r" rtl="1">
              <a:spcAft>
                <a:spcPts val="1400"/>
              </a:spcAft>
            </a:pPr>
            <a:r>
              <a:rPr sz="1800" lang="he-IL">
                <a:solidFill>
                  <a:srgbClr val="4A4A4A"/>
                </a:solidFill>
                <a:latin typeface="Arial"/>
              </a:rPr>
              <a:t>•  אבטחה, מעקב ותאימות (Audit Trail)</a:t>
            </a:r>
          </a:p>
          <a:p>
            <a:pPr algn="r" rtl="1">
              <a:spcAft>
                <a:spcPts val="1400"/>
              </a:spcAft>
            </a:pPr>
            <a:r>
              <a:rPr sz="1800" lang="he-IL">
                <a:solidFill>
                  <a:srgbClr val="4A4A4A"/>
                </a:solidFill>
                <a:latin typeface="Arial"/>
              </a:rPr>
              <a:t>•  סיכום היתרונות והערך העסקי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האתגר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ניהול חוזים וחתימות - הכאב האמיתי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48288" y="1828800"/>
            <a:ext cx="73152" cy="914400"/>
          </a:xfrm>
          <a:prstGeom prst="roundRect">
            <a:avLst/>
          </a:prstGeom>
          <a:solidFill>
            <a:srgbClr val="E0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הדפסה, חתימה וסריקה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10378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תהליכים ידניים שגוזלים זמן וכרוכים בנסיעות ופגישות פיזיות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48288" y="2880360"/>
            <a:ext cx="73152" cy="914400"/>
          </a:xfrm>
          <a:prstGeom prst="roundRect">
            <a:avLst/>
          </a:prstGeom>
          <a:solidFill>
            <a:srgbClr val="E0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איתור חוזרני של פרטי חוזה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47288"/>
            <a:ext cx="10378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הקלדה חזרתית של מספרי חוזה, תאריכים, סכומים וספקים מתוך מסמכים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48288" y="3931920"/>
            <a:ext cx="73152" cy="914400"/>
          </a:xfrm>
          <a:prstGeom prst="roundRect">
            <a:avLst/>
          </a:prstGeom>
          <a:solidFill>
            <a:srgbClr val="E0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היעדר מעקב ותיעוד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98848"/>
            <a:ext cx="10378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קושי לדעת מי חתם, מתי, ובאיזה שלב נמצא האישור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48288" y="4983480"/>
            <a:ext cx="73152" cy="914400"/>
          </a:xfrm>
          <a:prstGeom prst="roundRect">
            <a:avLst/>
          </a:prstGeom>
          <a:solidFill>
            <a:srgbClr val="E0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2064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טפסים עירוניים מורכבים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50408"/>
            <a:ext cx="10378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טופס הקנסות ודומיו דורשים דיוק רב והתאמה לדרישות רגולטוריות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הפתרון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DocFlows - כל תהליך החוזה במקום אחד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lang="he-IL">
                <a:solidFill>
                  <a:srgbClr val="2E6FE0"/>
                </a:solidFill>
                <a:latin typeface="Arial"/>
              </a:rPr>
              <a:t>העלאה → חילוץ נתונים אוטומטי ב-AI → חתימה ואישור → מעקב מלא → ארכיון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187" y="274320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lang="he-IL">
                <a:solidFill>
                  <a:srgbClr val="FFFFFF"/>
                </a:solidFill>
                <a:latin typeface="Arial"/>
              </a:rPr>
              <a:t>העלאת מסמך</a:t>
            </a:r>
          </a:p>
          <a:p>
            <a:pPr algn="ctr"/>
            <a:r>
              <a:rPr sz="1500" b="1" lang="he-IL">
                <a:solidFill>
                  <a:srgbClr val="FFFFFF"/>
                </a:solidFill>
                <a:latin typeface="Arial"/>
              </a:rPr>
              <a:t>(PDF / Word)</a:t>
            </a:r>
          </a:p>
        </p:txBody>
      </p:sp>
      <p:sp>
        <p:nvSpPr>
          <p:cNvPr id="8" name="Left Arrow 7"/>
          <p:cNvSpPr/>
          <p:nvPr/>
        </p:nvSpPr>
        <p:spPr>
          <a:xfrm>
            <a:off x="540867" y="3291840"/>
            <a:ext cx="228600" cy="365760"/>
          </a:xfrm>
          <a:prstGeom prst="leftArrow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12667" y="274320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lang="he-IL">
                <a:solidFill>
                  <a:srgbClr val="FFFFFF"/>
                </a:solidFill>
                <a:latin typeface="Arial"/>
              </a:rPr>
              <a:t>AI מחלץ שדות</a:t>
            </a:r>
          </a:p>
          <a:p>
            <a:pPr algn="ctr"/>
            <a:r>
              <a:rPr sz="1500" b="1" lang="he-IL">
                <a:solidFill>
                  <a:srgbClr val="FFFFFF"/>
                </a:solidFill>
                <a:latin typeface="Arial"/>
              </a:rPr>
              <a:t>ונתוני חוזה</a:t>
            </a:r>
          </a:p>
        </p:txBody>
      </p:sp>
      <p:sp>
        <p:nvSpPr>
          <p:cNvPr id="10" name="Left Arrow 9"/>
          <p:cNvSpPr/>
          <p:nvPr/>
        </p:nvSpPr>
        <p:spPr>
          <a:xfrm>
            <a:off x="3238347" y="3291840"/>
            <a:ext cx="228600" cy="365760"/>
          </a:xfrm>
          <a:prstGeom prst="leftArrow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0147" y="274320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E07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lang="he-IL">
                <a:solidFill>
                  <a:srgbClr val="FFFFFF"/>
                </a:solidFill>
                <a:latin typeface="Arial"/>
              </a:rPr>
              <a:t>חתימה ואישור</a:t>
            </a:r>
          </a:p>
          <a:p>
            <a:pPr algn="ctr"/>
            <a:r>
              <a:rPr sz="1500" b="1" lang="he-IL">
                <a:solidFill>
                  <a:srgbClr val="FFFFFF"/>
                </a:solidFill>
                <a:latin typeface="Arial"/>
              </a:rPr>
              <a:t>רב-שלבי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5935827" y="3291840"/>
            <a:ext cx="228600" cy="365760"/>
          </a:xfrm>
          <a:prstGeom prst="leftArrow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7627" y="274320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lang="he-IL">
                <a:solidFill>
                  <a:srgbClr val="FFFFFF"/>
                </a:solidFill>
                <a:latin typeface="Arial"/>
              </a:rPr>
              <a:t>מעקב, תגובות</a:t>
            </a:r>
          </a:p>
          <a:p>
            <a:pPr algn="ctr"/>
            <a:r>
              <a:rPr sz="1500" b="1" lang="he-IL">
                <a:solidFill>
                  <a:srgbClr val="FFFFFF"/>
                </a:solidFill>
                <a:latin typeface="Arial"/>
              </a:rPr>
              <a:t>ותיעוד מלא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lang="he-IL">
                <a:solidFill>
                  <a:srgbClr val="4A4A4A"/>
                </a:solidFill>
                <a:latin typeface="Arial"/>
              </a:rPr>
              <a:t>התוצאה: זמן הקמת חוזה מתקצר מימים לדקות, שגיאות הקלדה יורדות, ולכל פעולה יש תיעוד מלא לצורכי ביקורת ותאימות משפטית.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תכונת ליבה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העלאה והמרת מסמכים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48288" y="1920240"/>
            <a:ext cx="73152" cy="1188720"/>
          </a:xfrm>
          <a:prstGeom prst="round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תמיכה רב-פורמטית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העלאת PDF, DOC ו-DOCX; המרה אוטומטית של קבצי Word ל-PDF ללא צורך בכלים חיצוניים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48288" y="3291840"/>
            <a:ext cx="73152" cy="1188720"/>
          </a:xfrm>
          <a:prstGeom prst="round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שמירה על נאמנות המקור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58768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המסמך המומר שומר על העימוד, הפונטים והעיצוב המקוריים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48288" y="4663440"/>
            <a:ext cx="73152" cy="1188720"/>
          </a:xfrm>
          <a:prstGeom prst="round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API להמרה עצמאית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30368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נקודת קצה ייעודית להמרת Word ל-PDF בדרישה, לשילוב בתהליכים נוספים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תכונת ליבה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חתימה דיגיטלית ותהליכי אישור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lang="he-IL">
                <a:solidFill>
                  <a:srgbClr val="2E6FE0"/>
                </a:solidFill>
                <a:latin typeface="Arial"/>
              </a:rPr>
              <a:t>חתימה וחותמים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7744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50" lang="he-IL">
                <a:solidFill>
                  <a:srgbClr val="4A4A4A"/>
                </a:solidFill>
                <a:latin typeface="Arial"/>
              </a:rPr>
              <a:t>•  חתימה בשלוש דרכים: ציור, הקלדה והעלאת תמונה</a:t>
            </a:r>
          </a:p>
          <a:p>
            <a:pPr algn="r" rtl="1">
              <a:spcAft>
                <a:spcPts val="800"/>
              </a:spcAft>
            </a:pPr>
            <a:r>
              <a:rPr sz="1450" lang="he-IL">
                <a:solidFill>
                  <a:srgbClr val="4A4A4A"/>
                </a:solidFill>
                <a:latin typeface="Arial"/>
              </a:rPr>
              <a:t>•  מיקום מדויק (פיקסל) של שדות חתימה על העמוד</a:t>
            </a:r>
          </a:p>
          <a:p>
            <a:pPr algn="r" rtl="1">
              <a:spcAft>
                <a:spcPts val="800"/>
              </a:spcAft>
            </a:pPr>
            <a:r>
              <a:rPr sz="1450" lang="he-IL">
                <a:solidFill>
                  <a:srgbClr val="4A4A4A"/>
                </a:solidFill>
                <a:latin typeface="Arial"/>
              </a:rPr>
              <a:t>•  חותמים אורחים ללא צורך בהרשמה, באמצעות קישור מאובטח שתקף ל-72 שעות</a:t>
            </a:r>
          </a:p>
          <a:p>
            <a:pPr algn="r" rtl="1">
              <a:spcAft>
                <a:spcPts val="800"/>
              </a:spcAft>
            </a:pPr>
            <a:r>
              <a:rPr sz="1450" lang="he-IL">
                <a:solidFill>
                  <a:srgbClr val="4A4A4A"/>
                </a:solidFill>
                <a:latin typeface="Arial"/>
              </a:rPr>
              <a:t>•  גלריית חתימות לשימוש חוזר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lang="he-IL">
                <a:solidFill>
                  <a:srgbClr val="2E6FE0"/>
                </a:solidFill>
                <a:latin typeface="Arial"/>
              </a:rPr>
              <a:t>ניהול תהליכי אישור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50" lang="he-IL">
                <a:solidFill>
                  <a:srgbClr val="4A4A4A"/>
                </a:solidFill>
                <a:latin typeface="Arial"/>
              </a:rPr>
              <a:t>•  תהליכי אישור רב-שלביים - רציפים או מקבילים</a:t>
            </a:r>
          </a:p>
          <a:p>
            <a:pPr algn="r" rtl="1">
              <a:spcAft>
                <a:spcPts val="800"/>
              </a:spcAft>
            </a:pPr>
            <a:r>
              <a:rPr sz="1450" lang="he-IL">
                <a:solidFill>
                  <a:srgbClr val="4A4A4A"/>
                </a:solidFill>
                <a:latin typeface="Arial"/>
              </a:rPr>
              <a:t>•  ארבעה סוגי שלבים: חתימה, סקירה, אישור, התראה</a:t>
            </a:r>
          </a:p>
          <a:p>
            <a:pPr algn="r" rtl="1">
              <a:spcAft>
                <a:spcPts val="800"/>
              </a:spcAft>
            </a:pPr>
            <a:r>
              <a:rPr sz="1450" lang="he-IL">
                <a:solidFill>
                  <a:srgbClr val="4A4A4A"/>
                </a:solidFill>
                <a:latin typeface="Arial"/>
              </a:rPr>
              <a:t>•  מעקב סטטוס מסמך: טיוטה → בהמתנה לחתימה/אישור → אושר</a:t>
            </a:r>
          </a:p>
          <a:p>
            <a:pPr algn="r" rtl="1">
              <a:spcAft>
                <a:spcPts val="800"/>
              </a:spcAft>
            </a:pPr>
            <a:r>
              <a:rPr sz="1450" lang="he-IL">
                <a:solidFill>
                  <a:srgbClr val="4A4A4A"/>
                </a:solidFill>
                <a:latin typeface="Arial"/>
              </a:rPr>
              <a:t>•  אפשרות "דילוג" לחותמים לא-חובה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 lang="he-IL">
                <a:solidFill>
                  <a:srgbClr val="FFFFFF"/>
                </a:solidFill>
                <a:latin typeface="Arial"/>
              </a:rPr>
              <a:t>אוטומציה מבוססת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lang="he-IL">
                <a:solidFill>
                  <a:srgbClr val="CFDFFF"/>
                </a:solidFill>
                <a:latin typeface="Arial"/>
              </a:rPr>
              <a:t>הליבה הטכנולוגית של DocFlows: מנוע AI שקורא את החוזה בעצמו -</a:t>
            </a:r>
          </a:p>
          <a:p>
            <a:pPr algn="r" rtl="1"/>
            <a:r>
              <a:rPr sz="1800" b="0" lang="he-IL">
                <a:solidFill>
                  <a:srgbClr val="CFDFFF"/>
                </a:solidFill>
                <a:latin typeface="Arial"/>
              </a:rPr>
              <a:t>מסכם, מאתר חותמים, מאתר שדות חתימה וממלא נתונים אוטומטית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ארבע יכולות AI שחוסכות שעות עבודה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24728" y="1828800"/>
            <a:ext cx="73152" cy="1645920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סיכום מסמך אוטומטי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AI מסכם את החוזה ב-5 משפטים בהתבסס על הכותרת, השדות והחותמים - בעברית ובאנגלית. חוסך זמן קריאה לחותמים.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48288" y="1828800"/>
            <a:ext cx="73152" cy="1645920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איתור חותמים אוטומטי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המערכת מזהה מתוך טקסט המסמך את תפקידי החותמים והמאשרים, ומבטלת איתור ידני.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24728" y="3657600"/>
            <a:ext cx="73152" cy="1645920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חילוץ שדות חתימה מ-PDF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24528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AI חזותי (Vision) מאתר שורות חתימה, שדות אישור ומקומות מילוי בקובץ סרוק או ישן, כולל גיבוי טקסטואלי לסקירה ירודה.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48288" y="3657600"/>
            <a:ext cx="73152" cy="1645920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מילוי אוטומטי של נתוני חוזה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24528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התכונה החדשה ביותר: AI מחלץ מספר חוזה, תאריכים, פרטי ספק וסכומים ומציע מילוי מוקדם של השדות - ומבטל הקלדה חזרתית ושגיאות אדם.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ייעודי לישראל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תמיכה מובנית בטופס הקנסות העירוני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600" lang="he-IL">
                <a:solidFill>
                  <a:srgbClr val="4A4A4A"/>
                </a:solidFill>
                <a:latin typeface="Arial"/>
              </a:rPr>
              <a:t>•  תבנית מובנית לטופס אישור עירוני בן 4 עמודים, התואמת לדרישות רכש עירוניות בישראל</a:t>
            </a:r>
          </a:p>
          <a:p>
            <a:pPr algn="r" rtl="1">
              <a:spcAft>
                <a:spcPts val="1400"/>
              </a:spcAft>
            </a:pPr>
            <a:r>
              <a:rPr sz="1600" lang="he-IL">
                <a:solidFill>
                  <a:srgbClr val="4A4A4A"/>
                </a:solidFill>
                <a:latin typeface="Arial"/>
              </a:rPr>
              <a:t>•  תמיכה ב-30+ שדות חובה, תיבות סיווג (סוג חוזה, סוג קרבה) ושורות אישור דינמיות לפי תפקיד</a:t>
            </a:r>
          </a:p>
          <a:p>
            <a:pPr algn="r" rtl="1">
              <a:spcAft>
                <a:spcPts val="1400"/>
              </a:spcAft>
            </a:pPr>
            <a:r>
              <a:rPr sz="1600" lang="he-IL">
                <a:solidFill>
                  <a:srgbClr val="4A4A4A"/>
                </a:solidFill>
                <a:latin typeface="Arial"/>
              </a:rPr>
              <a:t>•  ממשק להתאמת מיקום שדות, כדי להתאים בדיוק לחלל הריק בטופס המקורי</a:t>
            </a:r>
          </a:p>
          <a:p>
            <a:pPr algn="r" rtl="1">
              <a:spcAft>
                <a:spcPts val="1400"/>
              </a:spcAft>
            </a:pPr>
            <a:r>
              <a:rPr sz="1600" lang="he-IL">
                <a:solidFill>
                  <a:srgbClr val="4A4A4A"/>
                </a:solidFill>
                <a:latin typeface="Arial"/>
              </a:rPr>
              <a:t>•  הפקת PDF סופי וחתום עם כל הנתונים והחתימות משולבים בו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46320"/>
            <a:ext cx="10332720" cy="1005840"/>
          </a:xfrm>
          <a:prstGeom prst="round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50" b="1" lang="he-IL">
                <a:solidFill>
                  <a:srgbClr val="0F2A4A"/>
                </a:solidFill>
                <a:latin typeface="Arial"/>
              </a:rPr>
              <a:t>הערך העסקי: עמידה רגולטורית ללא צורך במומחה טפסים, ביטול שגיאות מילוי, וחיסכון משמעותי בזמן הכנת אישורי רכש עירוניים.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תכונה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תבניות ושימוש חוזר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48288" y="1920240"/>
            <a:ext cx="73152" cy="1280160"/>
          </a:xfrm>
          <a:prstGeom prst="round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תבניות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10378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שמירת מסמך שהושלם כתבנית, כולל מיקומי שדות החתימה - ויצירת מסמכים חדשים בלחיצה אחת מתוך התבנית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48288" y="3383280"/>
            <a:ext cx="73152" cy="1280160"/>
          </a:xfrm>
          <a:prstGeom prst="round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תבניות טפסים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50208"/>
            <a:ext cx="10378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צירוף טפסים (כגון הקנסות) למסמך אחרי ההעלאה, עם קטלוג שדות מוגדר מראש וניהול גמיש של שדות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50" b="0" lang="he-IL">
                <a:solidFill>
                  <a:srgbClr val="4A4A4A"/>
                </a:solidFill>
                <a:latin typeface="Arial"/>
              </a:rPr>
              <a:t>הערך העסקי: עבור חוזים חזרתיים (כגון הסכמי שכירות או רכש סטנדרטיים) - זמן ההקמה יורד מדקות ארוכות לשניות.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תכונה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שיתוף פעולה, תגובות והתראות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lang="he-IL">
                <a:solidFill>
                  <a:srgbClr val="2E6FE0"/>
                </a:solidFill>
                <a:latin typeface="Arial"/>
              </a:rPr>
              <a:t>תגובות ואנוטציות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774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תגובות מעוגנות למקום מדויק בעמוד ה-PDF</a:t>
            </a:r>
          </a:p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שרשור תגובות ותשובות (Threading)</a:t>
            </a:r>
          </a:p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ארבעה סוגי תגובה: כלליות, הערת עיצוב, סיבת דחייה, הערת אישור</a:t>
            </a:r>
          </a:p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אזכור (@) חותמים שמפעיל התראת מייל</a:t>
            </a:r>
          </a:p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תהליך "סגירת" תגובה לפני אישור סופי של המסמך</a:t>
            </a:r>
          </a:p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עדכונים בזמן אמת (WebSocket) - כל המשתמשים רואים שינויים מיידית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lang="he-IL">
                <a:solidFill>
                  <a:srgbClr val="2E6FE0"/>
                </a:solidFill>
                <a:latin typeface="Arial"/>
              </a:rPr>
              <a:t>התראות מייל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מיילי הזמנה עם קישור חתימה מאובטח</a:t>
            </a:r>
          </a:p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התראות על תגובות ותשובות חדשות עם תצוגה מקדימה</a:t>
            </a:r>
          </a:p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התראת דחייה לבעל המסמך</a:t>
            </a:r>
          </a:p>
          <a:p>
            <a:pPr algn="r" rtl="1">
              <a:spcAft>
                <a:spcPts val="1000"/>
              </a:spcAft>
            </a:pPr>
            <a:r>
              <a:rPr sz="1350" lang="he-IL">
                <a:solidFill>
                  <a:srgbClr val="4A4A4A"/>
                </a:solidFill>
                <a:latin typeface="Arial"/>
              </a:rPr>
              <a:t>•  תור משימות אסינכרוני - שליחה אמינה גם בעומס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אבטחה ותאימות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מעקב מלא ובקרת גישה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48288" y="1828800"/>
            <a:ext cx="73152" cy="96012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יומן ביקורת מלא (Audit Trail)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תיעוד כל פעולה: יצירה, העלאה, שינויי סטטוס, השלמת שלבים, חתימות, דחיות ודילוגים - עם זהות פעיל וחותמת זמן לכל אירוע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48288" y="2926080"/>
            <a:ext cx="73152" cy="96012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היסטוריית חתימות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93008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שמירת כל חתימה עם זמן, זהות חותם, תמונת החתימה ומיקומה המדויק במסמך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48288" y="4023360"/>
            <a:ext cx="73152" cy="96012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הרשאות וזיהוי משתמשים (Clerk)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90288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כניסה מאובטחת (SSO, Google, אימייל), תפקידי צוות (מנהל, חבר, אורח), ובידוד נתונים מלא בין לקוחות (Multi-tenant)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48288" y="5120640"/>
            <a:ext cx="73152" cy="96012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5780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בקרת גישה למסמכים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87568"/>
            <a:ext cx="10378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רק בעל המסמך מנהל אותו; חותמים אורחים מקבלים טוקן מוגבל בזמן בלבד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lang="he-IL">
                <a:solidFill>
                  <a:srgbClr val="2E6FE0"/>
                </a:solidFill>
                <a:latin typeface="Arial"/>
              </a:rPr>
              <a:t>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lang="he-IL">
                <a:solidFill>
                  <a:srgbClr val="0F2A4A"/>
                </a:solidFill>
                <a:latin typeface="Arial"/>
              </a:rPr>
              <a:t>הערך העסקי בשורה אחת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48288" y="1828800"/>
            <a:ext cx="73152" cy="749808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חיסכון בזמן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1037844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מילוי אוטומטי ב-AI, חילוץ שדות, ושימוש חוזר בתבניות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48288" y="2697480"/>
            <a:ext cx="73152" cy="749808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הפחתת שגיאות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64408"/>
            <a:ext cx="1037844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חילוץ נתונים אוטומטי, תבניות מוכנות מראש, ובדיקת שדות חובה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48288" y="3566160"/>
            <a:ext cx="73152" cy="749808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תאימות משפטית ורגולטורית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33088"/>
            <a:ext cx="1037844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יומן ביקורת מקיף, אימות חתימות, ותמיכה בטופס הקנסות העירוני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48288" y="4434840"/>
            <a:ext cx="73152" cy="749808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קלות שימוש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01768"/>
            <a:ext cx="1037844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אין צורך בהרשמה לחותמים אורחים, מיקום שדות חזותי, יצירת מסמך בלחיצה אחת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03520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48288" y="5303520"/>
            <a:ext cx="73152" cy="749808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1037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lang="he-IL">
                <a:solidFill>
                  <a:srgbClr val="0F2A4A"/>
                </a:solidFill>
                <a:latin typeface="Arial"/>
              </a:rPr>
              <a:t>עברית כשפת אם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70448"/>
            <a:ext cx="1037844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50" b="0" lang="he-IL">
                <a:solidFill>
                  <a:srgbClr val="4A4A4A"/>
                </a:solidFill>
                <a:latin typeface="Arial"/>
              </a:rPr>
              <a:t>תמיכה מלאה ב-RTL, סיכום AI בעברית, וטפסים עירוניים ישראליים מובנים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 lang="he-IL">
                <a:solidFill>
                  <a:srgbClr val="FFFFFF"/>
                </a:solidFill>
                <a:latin typeface="Arial"/>
              </a:rPr>
              <a:t>DocFlows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lang="he-IL">
                <a:solidFill>
                  <a:srgbClr val="CFDFFF"/>
                </a:solidFill>
                <a:latin typeface="Arial"/>
              </a:rPr>
              <a:t>כל תהליך החוזה - מהעלאה ועד חתימה - במקום אחד, מהיר, מדויק ומתועד.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lang="he-IL">
                <a:solidFill>
                  <a:srgbClr val="FFFFFF"/>
                </a:solidFill>
                <a:latin typeface="Arial"/>
              </a:rPr>
              <a:t>תודה!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DocFlows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lang="he-IL">
                <a:solidFill>
                  <a:srgbClr val="AAAAAA"/>
                </a:solidFill>
                <a:latin typeface="Arial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